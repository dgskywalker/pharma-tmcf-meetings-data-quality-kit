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Arial"/>
              </a:defRPr>
            </a:pPr>
            <a:r>
              <a:t>MERIDIAN BIOPHARMA GLOBAL OPERATIONS</a:t>
            </a:r>
          </a:p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Meetings &amp; Events Data Quality</a:t>
            </a:r>
            <a:br/>
            <a:r>
              <a:t>&amp; Compliance Governance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Monthly Performance Briefing &amp; Data Leakage Point (DLP) Surveillance | Q3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303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Operational Architecture: Cvent Enterprise SMM • SAP Concur • Amex BTA Virtual Cards • CMS Sunshine • EFPIA • Fleet ESG</a:t>
            </a:r>
          </a:p>
          <a:p>
            <a:pPr>
              <a:defRPr sz="850" b="1">
                <a:solidFill>
                  <a:srgbClr val="F59E0B"/>
                </a:solidFill>
                <a:latin typeface="Arial"/>
              </a:defRPr>
            </a:pPr>
            <a:r>
              <a:t>[CONFIDENTIAL - FOR SIMULATION &amp; DEMO PURPOSES ONLY - ALL DATA IS 100% SYNTHETIC]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D9488"/>
                </a:solidFill>
                <a:latin typeface="Arial"/>
              </a:defRPr>
            </a:pPr>
            <a:r>
              <a:t>GLOBAL MEETINGS DATA QUALITY &amp; GOVERNANCE COMMITTEE</a:t>
            </a:r>
          </a:p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Executive Scorecard: Data Accuracy &amp; Regulatory Exposure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51460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900" b="1">
                <a:solidFill>
                  <a:srgbClr val="64748B"/>
                </a:solidFill>
                <a:latin typeface="Arial"/>
              </a:defRPr>
            </a:pPr>
            <a:r>
              <a:t>PORTFOLIO ACCURACY</a:t>
            </a:r>
          </a:p>
          <a:p>
            <a:pPr algn="ctr">
              <a:defRPr sz="2200" b="1">
                <a:solidFill>
                  <a:srgbClr val="E11D48"/>
                </a:solidFill>
                <a:latin typeface="Arial"/>
              </a:defRPr>
            </a:pPr>
            <a:r>
              <a:t>78.07%</a:t>
            </a:r>
          </a:p>
          <a:p>
            <a:pPr algn="ctr">
              <a:defRPr sz="850">
                <a:solidFill>
                  <a:srgbClr val="1E293B"/>
                </a:solidFill>
                <a:latin typeface="Arial"/>
              </a:defRPr>
            </a:pPr>
            <a:r>
              <a:t>Target: &gt;= 95.0% (-16.9% Gap)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1371600"/>
            <a:ext cx="251460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900" b="1">
                <a:solidFill>
                  <a:srgbClr val="64748B"/>
                </a:solidFill>
                <a:latin typeface="Arial"/>
              </a:defRPr>
            </a:pPr>
            <a:r>
              <a:t>AUDITED MEETING SPEND</a:t>
            </a:r>
          </a:p>
          <a:p>
            <a:pPr algn="ctr">
              <a:defRPr sz="2200" b="1">
                <a:solidFill>
                  <a:srgbClr val="0F172A"/>
                </a:solidFill>
                <a:latin typeface="Arial"/>
              </a:defRPr>
            </a:pPr>
            <a:r>
              <a:t>$224.4M</a:t>
            </a:r>
          </a:p>
          <a:p>
            <a:pPr algn="ctr">
              <a:defRPr sz="850">
                <a:solidFill>
                  <a:srgbClr val="1E293B"/>
                </a:solidFill>
                <a:latin typeface="Arial"/>
              </a:defRPr>
            </a:pPr>
            <a:r>
              <a:t>1,500 Total Events Tracked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371600"/>
            <a:ext cx="251460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900" b="1">
                <a:solidFill>
                  <a:srgbClr val="64748B"/>
                </a:solidFill>
                <a:latin typeface="Arial"/>
              </a:defRPr>
            </a:pPr>
            <a:r>
              <a:t>SUNSHINE SPEND EXPOSURE</a:t>
            </a:r>
          </a:p>
          <a:p>
            <a:pPr algn="ctr">
              <a:defRPr sz="2200" b="1">
                <a:solidFill>
                  <a:srgbClr val="E11D48"/>
                </a:solidFill>
                <a:latin typeface="Arial"/>
              </a:defRPr>
            </a:pPr>
            <a:r>
              <a:t>$13.7M</a:t>
            </a:r>
          </a:p>
          <a:p>
            <a:pPr algn="ctr">
              <a:defRPr sz="850">
                <a:solidFill>
                  <a:srgbClr val="1E293B"/>
                </a:solidFill>
                <a:latin typeface="Arial"/>
              </a:defRPr>
            </a:pPr>
            <a:r>
              <a:t>6.1% Total Portfolio at Risk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1371600"/>
            <a:ext cx="260604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900" b="1">
                <a:solidFill>
                  <a:srgbClr val="64748B"/>
                </a:solidFill>
                <a:latin typeface="Arial"/>
              </a:defRPr>
            </a:pPr>
            <a:r>
              <a:t>FLAGGED DEFICIENCIES</a:t>
            </a:r>
          </a:p>
          <a:p>
            <a:pPr algn="ctr">
              <a:defRPr sz="2200" b="1">
                <a:solidFill>
                  <a:srgbClr val="D97706"/>
                </a:solidFill>
                <a:latin typeface="Arial"/>
              </a:defRPr>
            </a:pPr>
            <a:r>
              <a:t>329 / 1500</a:t>
            </a:r>
          </a:p>
          <a:p>
            <a:pPr algn="ctr">
              <a:defRPr sz="850">
                <a:solidFill>
                  <a:srgbClr val="1E293B"/>
                </a:solidFill>
                <a:latin typeface="Arial"/>
              </a:defRPr>
            </a:pPr>
            <a:r>
              <a:t>1171 Clean Events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52120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100" b="1">
                <a:solidFill>
                  <a:srgbClr val="0D9488"/>
                </a:solidFill>
                <a:latin typeface="Arial"/>
              </a:defRPr>
            </a:pPr>
            <a:r>
              <a:t>EXECUTIVE TAKEAWAYS &amp; GOVERNANCE ALERT</a:t>
            </a:r>
          </a:p>
          <a:p>
            <a:pPr>
              <a:spcBef>
                <a:spcPts val="800"/>
              </a:spcBef>
            </a:pPr>
            <a:r>
              <a:rPr sz="950" b="1">
                <a:solidFill>
                  <a:srgbClr val="0F172A"/>
                </a:solidFill>
                <a:latin typeface="Arial"/>
              </a:rPr>
              <a:t>• Post-Event Roster Lags Represent 54% of Risk:</a:t>
            </a:r>
            <a:r>
              <a:rPr sz="950">
                <a:solidFill>
                  <a:srgbClr val="1E293B"/>
                </a:solidFill>
                <a:latin typeface="Arial"/>
              </a:rPr>
              <a:t> 184 meetings failed to submit verified attendee rosters within the mandatory 14-day SLA, directly corrupting CMS Open Payments calculations.</a:t>
            </a:r>
          </a:p>
          <a:p>
            <a:pPr>
              <a:spcBef>
                <a:spcPts val="800"/>
              </a:spcBef>
            </a:pPr>
            <a:r>
              <a:rPr sz="950" b="1">
                <a:solidFill>
                  <a:srgbClr val="0F172A"/>
                </a:solidFill>
                <a:latin typeface="Arial"/>
              </a:rPr>
              <a:t>• Cvent SMM Bypass (DLP-1):</a:t>
            </a:r>
            <a:r>
              <a:rPr sz="950">
                <a:solidFill>
                  <a:srgbClr val="1E293B"/>
                </a:solidFill>
                <a:latin typeface="Arial"/>
              </a:rPr>
              <a:t> 42 external HCP events were booked directly off-channel, completely circumventing corporate master contracts and aggregate spend tracking.</a:t>
            </a:r>
          </a:p>
          <a:p>
            <a:pPr>
              <a:spcBef>
                <a:spcPts val="800"/>
              </a:spcBef>
            </a:pPr>
            <a:r>
              <a:rPr sz="950" b="1">
                <a:solidFill>
                  <a:srgbClr val="0F172A"/>
                </a:solidFill>
                <a:latin typeface="Arial"/>
              </a:rPr>
              <a:t>• Virtual Card Unallocated Balances:</a:t>
            </a:r>
            <a:r>
              <a:rPr sz="950">
                <a:solidFill>
                  <a:srgbClr val="1E293B"/>
                </a:solidFill>
                <a:latin typeface="Arial"/>
              </a:rPr>
              <a:t> $9.4M in BTA/Virtual card charges exceed 45-day reconciliation windows due to missing Cvent Level 3 transaction references.</a:t>
            </a:r>
          </a:p>
          <a:p>
            <a:pPr>
              <a:spcBef>
                <a:spcPts val="800"/>
              </a:spcBef>
            </a:pPr>
            <a:r>
              <a:rPr sz="950" b="1">
                <a:solidFill>
                  <a:srgbClr val="0F172A"/>
                </a:solidFill>
                <a:latin typeface="Arial"/>
              </a:rPr>
              <a:t>• Remediation Target:</a:t>
            </a:r>
            <a:r>
              <a:rPr sz="950">
                <a:solidFill>
                  <a:srgbClr val="1E293B"/>
                </a:solidFill>
                <a:latin typeface="Arial"/>
              </a:rPr>
              <a:t> Implement automated Concur pre-booking hard stops and 7-day BU VP escalation nudges to reach 95% accuracy by Q4.</a:t>
            </a:r>
          </a:p>
        </p:txBody>
      </p:sp>
      <p:pic>
        <p:nvPicPr>
          <p:cNvPr id="8" name="Picture 7" descr="compliance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926080"/>
            <a:ext cx="521208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D9488"/>
                </a:solidFill>
                <a:latin typeface="Arial"/>
              </a:defRPr>
            </a:pPr>
            <a:r>
              <a:t>GLOBAL MEETINGS DATA QUALITY &amp; GOVERNANCE COMMITTEE</a:t>
            </a:r>
          </a:p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End-to-End Meeting Lifecycle &amp; Data Leakage Point (DLP) Surveillance</a:t>
            </a:r>
          </a:p>
        </p:txBody>
      </p:sp>
      <p:pic>
        <p:nvPicPr>
          <p:cNvPr id="3" name="Picture 2" descr="process_map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217920" cy="48463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132320" y="1371600"/>
            <a:ext cx="429768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00" b="1">
                <a:solidFill>
                  <a:srgbClr val="E11D48"/>
                </a:solidFill>
                <a:latin typeface="Arial"/>
              </a:defRPr>
            </a:pPr>
            <a:r>
              <a:t>CRITICAL DATA LEAKAGE POINTS</a:t>
            </a:r>
          </a:p>
          <a:p>
            <a:pPr>
              <a:spcBef>
                <a:spcPts val="600"/>
              </a:spcBef>
            </a:pPr>
            <a:r>
              <a:rPr sz="850" b="1">
                <a:solidFill>
                  <a:srgbClr val="0F172A"/>
                </a:solidFill>
                <a:latin typeface="Arial"/>
              </a:rPr>
              <a:t>DLP-1: Rogue Direct Booking: </a:t>
            </a:r>
            <a:r>
              <a:rPr sz="850">
                <a:solidFill>
                  <a:srgbClr val="1E293B"/>
                </a:solidFill>
                <a:latin typeface="Arial"/>
              </a:rPr>
              <a:t>Requester bypasses Cvent SMM intake; unmitigated cancellation terms ($35k-$150k exposure).</a:t>
            </a:r>
          </a:p>
          <a:p>
            <a:pPr>
              <a:spcBef>
                <a:spcPts val="600"/>
              </a:spcBef>
            </a:pPr>
            <a:r>
              <a:rPr sz="850" b="1">
                <a:solidFill>
                  <a:srgbClr val="0F172A"/>
                </a:solidFill>
                <a:latin typeface="Arial"/>
              </a:rPr>
              <a:t>DLP-2: HCP NPI / FMV Disconnect: </a:t>
            </a:r>
            <a:r>
              <a:rPr sz="850">
                <a:solidFill>
                  <a:srgbClr val="1E293B"/>
                </a:solidFill>
                <a:latin typeface="Arial"/>
              </a:rPr>
              <a:t>Missing 10-digit NPIs or unapproved honoraria tiers; Sunshine Act disclosure penalty risk.</a:t>
            </a:r>
          </a:p>
          <a:p>
            <a:pPr>
              <a:spcBef>
                <a:spcPts val="600"/>
              </a:spcBef>
            </a:pPr>
            <a:r>
              <a:rPr sz="850" b="1">
                <a:solidFill>
                  <a:srgbClr val="0F172A"/>
                </a:solidFill>
                <a:latin typeface="Arial"/>
              </a:rPr>
              <a:t>DLP-3: Fleet Telematics Blindspot: </a:t>
            </a:r>
            <a:r>
              <a:rPr sz="850">
                <a:solidFill>
                  <a:srgbClr val="1E293B"/>
                </a:solidFill>
                <a:latin typeface="Arial"/>
              </a:rPr>
              <a:t>Ground executive sedans booked off-contract with zero passenger manifests or Scope 3 CO2 tracking.</a:t>
            </a:r>
          </a:p>
          <a:p>
            <a:pPr>
              <a:spcBef>
                <a:spcPts val="600"/>
              </a:spcBef>
            </a:pPr>
            <a:r>
              <a:rPr sz="850" b="1">
                <a:solidFill>
                  <a:srgbClr val="0F172A"/>
                </a:solidFill>
                <a:latin typeface="Arial"/>
              </a:rPr>
              <a:t>DLP-4: Virtual Card Orphan Charges: </a:t>
            </a:r>
            <a:r>
              <a:rPr sz="850">
                <a:solidFill>
                  <a:srgbClr val="1E293B"/>
                </a:solidFill>
                <a:latin typeface="Arial"/>
              </a:rPr>
              <a:t>Hotel master folios charged without Cvent Meeting ID reference; 60+ day unallocated AP.</a:t>
            </a:r>
          </a:p>
          <a:p>
            <a:pPr>
              <a:spcBef>
                <a:spcPts val="600"/>
              </a:spcBef>
            </a:pPr>
            <a:r>
              <a:rPr sz="850" b="1">
                <a:solidFill>
                  <a:srgbClr val="0F172A"/>
                </a:solidFill>
                <a:latin typeface="Arial"/>
              </a:rPr>
              <a:t>DLP-5: Post-Event Roster Leakage: </a:t>
            </a:r>
            <a:r>
              <a:rPr sz="850">
                <a:solidFill>
                  <a:srgbClr val="1E293B"/>
                </a:solidFill>
                <a:latin typeface="Arial"/>
              </a:rPr>
              <a:t>Delayed actual attendee sign-in uploads; no-shows falsely reported as receiving transfer-of-value.</a:t>
            </a:r>
          </a:p>
          <a:p>
            <a:pPr>
              <a:spcBef>
                <a:spcPts val="600"/>
              </a:spcBef>
            </a:pPr>
            <a:r>
              <a:rPr sz="850" b="1">
                <a:solidFill>
                  <a:srgbClr val="0F172A"/>
                </a:solidFill>
                <a:latin typeface="Arial"/>
              </a:rPr>
              <a:t>DLP-6: Financial WBS Desync: </a:t>
            </a:r>
            <a:r>
              <a:rPr sz="850">
                <a:solidFill>
                  <a:srgbClr val="1E293B"/>
                </a:solidFill>
                <a:latin typeface="Arial"/>
              </a:rPr>
              <a:t>Expenses coded to generic departmental cost center instead of clinical trial WBS code.</a:t>
            </a:r>
          </a:p>
          <a:p>
            <a:pPr>
              <a:spcBef>
                <a:spcPts val="600"/>
              </a:spcBef>
            </a:pPr>
            <a:r>
              <a:rPr sz="850" b="1">
                <a:solidFill>
                  <a:srgbClr val="0F172A"/>
                </a:solidFill>
                <a:latin typeface="Arial"/>
              </a:rPr>
              <a:t>DLP-7: Cross-Border Regulatory Omission: </a:t>
            </a:r>
            <a:r>
              <a:rPr sz="850">
                <a:solidFill>
                  <a:srgbClr val="1E293B"/>
                </a:solidFill>
                <a:latin typeface="Arial"/>
              </a:rPr>
              <a:t>Foreign HCP invited without bilateral affiliate compliance clearance.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D9488"/>
                </a:solidFill>
                <a:latin typeface="Arial"/>
              </a:defRPr>
            </a:pPr>
            <a:r>
              <a:t>GLOBAL MEETINGS DATA QUALITY &amp; GOVERNANCE COMMITTEE</a:t>
            </a:r>
          </a:p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Strategic Meetings (Cvent SMM): The 14-Day Attendee Roster Challenge</a:t>
            </a:r>
          </a:p>
        </p:txBody>
      </p:sp>
      <p:pic>
        <p:nvPicPr>
          <p:cNvPr id="3" name="Picture 2" descr="roster_ag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486400" cy="48463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492240" y="1371600"/>
            <a:ext cx="493776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100" b="1">
                <a:solidFill>
                  <a:srgbClr val="0D9488"/>
                </a:solidFill>
                <a:latin typeface="Arial"/>
              </a:defRPr>
            </a:pPr>
            <a:r>
              <a:t>ROSTER DEFICIENCY ROOT CAUSE ANALYSIS</a:t>
            </a:r>
          </a:p>
          <a:p>
            <a:pPr>
              <a:spcBef>
                <a:spcPts val="1000"/>
              </a:spcBef>
            </a:pPr>
            <a:r>
              <a:rPr sz="950" b="1">
                <a:solidFill>
                  <a:srgbClr val="0F172A"/>
                </a:solidFill>
                <a:latin typeface="Arial"/>
              </a:rPr>
              <a:t>• The 'Ghost Physician' Transfer of Value Risk:</a:t>
            </a:r>
            <a:r>
              <a:rPr sz="950">
                <a:solidFill>
                  <a:srgbClr val="1E293B"/>
                </a:solidFill>
                <a:latin typeface="Arial"/>
              </a:rPr>
              <a:t> When organizers fail to upload physical sign-in sheets, the system defaults to the preliminary RSVP list. Physicians who canceled last minute are mistakenly credited with meal and room allocations in CMS Open Payments filings.</a:t>
            </a:r>
          </a:p>
          <a:p>
            <a:pPr>
              <a:spcBef>
                <a:spcPts val="1000"/>
              </a:spcBef>
            </a:pPr>
            <a:r>
              <a:rPr sz="950" b="1">
                <a:solidFill>
                  <a:srgbClr val="0F172A"/>
                </a:solidFill>
                <a:latin typeface="Arial"/>
              </a:rPr>
              <a:t>• Physician Dispute Exposure:</a:t>
            </a:r>
            <a:r>
              <a:rPr sz="950">
                <a:solidFill>
                  <a:srgbClr val="1E293B"/>
                </a:solidFill>
                <a:latin typeface="Arial"/>
              </a:rPr>
              <a:t> Physicians frequently dispute false transfer-of-value records during the 45-day CMS dispute review window, triggering costly legal audits and reputational friction.</a:t>
            </a:r>
          </a:p>
          <a:p>
            <a:pPr>
              <a:spcBef>
                <a:spcPts val="1000"/>
              </a:spcBef>
            </a:pPr>
            <a:r>
              <a:rPr sz="950" b="1">
                <a:solidFill>
                  <a:srgbClr val="0F172A"/>
                </a:solidFill>
                <a:latin typeface="Arial"/>
              </a:rPr>
              <a:t>• Root Cause Behavior:</a:t>
            </a:r>
            <a:r>
              <a:rPr sz="950">
                <a:solidFill>
                  <a:srgbClr val="1E293B"/>
                </a:solidFill>
                <a:latin typeface="Arial"/>
              </a:rPr>
              <a:t> Requesters treat meeting execution as the final step; post-event closeout is deprioritized once the symposium ends.</a:t>
            </a:r>
          </a:p>
          <a:p>
            <a:pPr>
              <a:spcBef>
                <a:spcPts val="1000"/>
              </a:spcBef>
            </a:pPr>
            <a:r>
              <a:rPr sz="950" b="1">
                <a:solidFill>
                  <a:srgbClr val="0F172A"/>
                </a:solidFill>
                <a:latin typeface="Arial"/>
              </a:rPr>
              <a:t>• Mandatory Remediation Protocol:</a:t>
            </a:r>
            <a:r>
              <a:rPr sz="950">
                <a:solidFill>
                  <a:srgbClr val="1E293B"/>
                </a:solidFill>
                <a:latin typeface="Arial"/>
              </a:rPr>
              <a:t> Automated Day +7 alert to meeting lead; Day +14 notice flagging meeting as DELINQUENT; Day +21 automated block on organizer corporate card privileges until roster sign-off.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D9488"/>
                </a:solidFill>
                <a:latin typeface="Arial"/>
              </a:defRPr>
            </a:pPr>
            <a:r>
              <a:t>GLOBAL MEETINGS DATA QUALITY &amp; GOVERNANCE COMMITTEE</a:t>
            </a:r>
          </a:p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Corporate Payment &amp; Card Reconciliation: Clearing Aged Balances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291840" cy="1280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900" b="1">
                <a:solidFill>
                  <a:srgbClr val="64748B"/>
                </a:solidFill>
                <a:latin typeface="Arial"/>
              </a:defRPr>
            </a:pPr>
            <a:r>
              <a:t>VIRTUAL CARD SHARE</a:t>
            </a:r>
          </a:p>
          <a:p>
            <a:pPr algn="ctr">
              <a:defRPr sz="2200" b="1">
                <a:solidFill>
                  <a:srgbClr val="0D9488"/>
                </a:solidFill>
                <a:latin typeface="Arial"/>
              </a:defRPr>
            </a:pPr>
            <a:r>
              <a:t>45.0% ($101.0M)</a:t>
            </a:r>
          </a:p>
          <a:p>
            <a:pPr algn="ctr">
              <a:defRPr sz="850">
                <a:solidFill>
                  <a:srgbClr val="1E293B"/>
                </a:solidFill>
                <a:latin typeface="Arial"/>
              </a:defRPr>
            </a:pPr>
            <a:r>
              <a:t>Preferred Hotel Master Folio Gateway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371600"/>
            <a:ext cx="3291840" cy="1280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900" b="1">
                <a:solidFill>
                  <a:srgbClr val="64748B"/>
                </a:solidFill>
                <a:latin typeface="Arial"/>
              </a:defRPr>
            </a:pPr>
            <a:r>
              <a:t>AMEX BTA GHOST SPEND</a:t>
            </a:r>
          </a:p>
          <a:p>
            <a:pPr algn="ctr">
              <a:defRPr sz="2200" b="1">
                <a:solidFill>
                  <a:srgbClr val="0F172A"/>
                </a:solidFill>
                <a:latin typeface="Arial"/>
              </a:defRPr>
            </a:pPr>
            <a:r>
              <a:t>30.0% ($67.3M)</a:t>
            </a:r>
          </a:p>
          <a:p>
            <a:pPr algn="ctr">
              <a:defRPr sz="850">
                <a:solidFill>
                  <a:srgbClr val="1E293B"/>
                </a:solidFill>
                <a:latin typeface="Arial"/>
              </a:defRPr>
            </a:pPr>
            <a:r>
              <a:t>Centralized Air &amp; Group Rail Charges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371600"/>
            <a:ext cx="3566160" cy="1280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900" b="1">
                <a:solidFill>
                  <a:srgbClr val="64748B"/>
                </a:solidFill>
                <a:latin typeface="Arial"/>
              </a:defRPr>
            </a:pPr>
            <a:r>
              <a:t>AGED UNRECONCILED AP (&gt;45D)</a:t>
            </a:r>
          </a:p>
          <a:p>
            <a:pPr algn="ctr">
              <a:defRPr sz="2200" b="1">
                <a:solidFill>
                  <a:srgbClr val="E11D48"/>
                </a:solidFill>
                <a:latin typeface="Arial"/>
              </a:defRPr>
            </a:pPr>
            <a:r>
              <a:t>$9.4M (38 Events)</a:t>
            </a:r>
          </a:p>
          <a:p>
            <a:pPr algn="ctr">
              <a:defRPr sz="850">
                <a:solidFill>
                  <a:srgbClr val="1E293B"/>
                </a:solidFill>
                <a:latin typeface="Arial"/>
              </a:defRPr>
            </a:pPr>
            <a:r>
              <a:t>Requires Manual General Ledger Matching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53035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000" b="1">
                <a:solidFill>
                  <a:srgbClr val="0D9488"/>
                </a:solidFill>
                <a:latin typeface="Arial"/>
              </a:defRPr>
            </a:pPr>
            <a:r>
              <a:t>PAYMENT METHOD INTEGRITY &amp; RECONCILIATION SPEED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0F172A"/>
                </a:solidFill>
                <a:latin typeface="Arial"/>
              </a:rPr>
              <a:t>Single-Use Virtual Card (Recon Rate: 92.4% | Avg Lag: 12 Days)
</a:t>
            </a:r>
            <a:r>
              <a:rPr sz="850">
                <a:solidFill>
                  <a:srgbClr val="64748B"/>
                </a:solidFill>
                <a:latin typeface="Arial"/>
              </a:rPr>
              <a:t>  -&gt; Lowest orphan risk; exact budget pre-funded.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0F172A"/>
                </a:solidFill>
                <a:latin typeface="Arial"/>
              </a:rPr>
              <a:t>Amex BTA Ghost Card (Recon Rate: 74.8% | Avg Lag: 48 Days)
</a:t>
            </a:r>
            <a:r>
              <a:rPr sz="850">
                <a:solidFill>
                  <a:srgbClr val="64748B"/>
                </a:solidFill>
                <a:latin typeface="Arial"/>
              </a:rPr>
              <a:t>  -&gt; Vulnerable to generic hotel merchant descriptors.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0F172A"/>
                </a:solidFill>
                <a:latin typeface="Arial"/>
              </a:rPr>
              <a:t>Corporate T&amp;E Card (Recon Rate: 81.2% | Avg Lag: 29 Days)
</a:t>
            </a:r>
            <a:r>
              <a:rPr sz="850">
                <a:solidFill>
                  <a:srgbClr val="64748B"/>
                </a:solidFill>
                <a:latin typeface="Arial"/>
              </a:rPr>
              <a:t>  -&gt; Employee out-of-pocket report lag in Concur.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0F172A"/>
                </a:solidFill>
                <a:latin typeface="Arial"/>
              </a:rPr>
              <a:t>Direct Invoice PO (Recon Rate: 88.0% | Avg Lag: 34 Days)
</a:t>
            </a:r>
            <a:r>
              <a:rPr sz="850">
                <a:solidFill>
                  <a:srgbClr val="64748B"/>
                </a:solidFill>
                <a:latin typeface="Arial"/>
              </a:rPr>
              <a:t>  -&gt; Heavy procurement PO cross-charging overhead.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834640"/>
            <a:ext cx="5120640" cy="34747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050" b="1">
                <a:solidFill>
                  <a:srgbClr val="0F172A"/>
                </a:solidFill>
                <a:latin typeface="Arial"/>
              </a:defRPr>
            </a:pPr>
            <a:r>
              <a:t>LEVEL 3 MERCHANT DATA REMEDIATION</a:t>
            </a:r>
          </a:p>
          <a:p>
            <a:pPr>
              <a:spcBef>
                <a:spcPts val="1000"/>
              </a:spcBef>
            </a:pPr>
            <a:r>
              <a:rPr sz="900" b="1">
                <a:solidFill>
                  <a:srgbClr val="0F172A"/>
                </a:solidFill>
                <a:latin typeface="Arial"/>
              </a:rPr>
              <a:t>• The 'Hotel Restaurant Co' Descriptor Problem:</a:t>
            </a:r>
            <a:r>
              <a:rPr sz="900">
                <a:solidFill>
                  <a:srgbClr val="1E293B"/>
                </a:solidFill>
                <a:latin typeface="Arial"/>
              </a:rPr>
              <a:t> Hotels bill Banquet Event Orders (BEOs) under local merchant entity names without passing Cvent Meeting IDs, breaking automated Concur match rules.</a:t>
            </a:r>
          </a:p>
          <a:p>
            <a:pPr>
              <a:spcBef>
                <a:spcPts val="1000"/>
              </a:spcBef>
            </a:pPr>
            <a:r>
              <a:rPr sz="900" b="1">
                <a:solidFill>
                  <a:srgbClr val="0F172A"/>
                </a:solidFill>
                <a:latin typeface="Arial"/>
              </a:rPr>
              <a:t>• Mandatory Master Folio Protocol:</a:t>
            </a:r>
            <a:r>
              <a:rPr sz="900">
                <a:solidFill>
                  <a:srgbClr val="1E293B"/>
                </a:solidFill>
                <a:latin typeface="Arial"/>
              </a:rPr>
              <a:t> Mandate that hotel contracts enforce Level 3 interchange fields containing Cvent Meeting ID (`CVT-XXXXXX`) in field 43.</a:t>
            </a:r>
          </a:p>
          <a:p>
            <a:pPr>
              <a:spcBef>
                <a:spcPts val="1000"/>
              </a:spcBef>
            </a:pPr>
            <a:r>
              <a:rPr sz="900" b="1">
                <a:solidFill>
                  <a:srgbClr val="0F172A"/>
                </a:solidFill>
                <a:latin typeface="Arial"/>
              </a:rPr>
              <a:t>• Direct Concur API Integration:</a:t>
            </a:r>
            <a:r>
              <a:rPr sz="900">
                <a:solidFill>
                  <a:srgbClr val="1E293B"/>
                </a:solidFill>
                <a:latin typeface="Arial"/>
              </a:rPr>
              <a:t> Deploy automatic Concur-to-Cvent nightly synchronization to ingest itemized hotel folios directly into event expense lines.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D9488"/>
                </a:solidFill>
                <a:latin typeface="Arial"/>
              </a:defRPr>
            </a:pPr>
            <a:r>
              <a:t>GLOBAL MEETINGS DATA QUALITY &amp; GOVERNANCE COMMITTEE</a:t>
            </a:r>
          </a:p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Healthcare Compliance &amp; Business Unit Exposure Breakdown</a:t>
            </a:r>
          </a:p>
        </p:txBody>
      </p:sp>
      <p:pic>
        <p:nvPicPr>
          <p:cNvPr id="3" name="Picture 2" descr="accuracy_by_b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669280" cy="48463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675120" y="1371600"/>
            <a:ext cx="47548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100" b="1">
                <a:solidFill>
                  <a:srgbClr val="E11D48"/>
                </a:solidFill>
                <a:latin typeface="Arial"/>
              </a:defRPr>
            </a:pPr>
            <a:r>
              <a:t>REGULATORY JURISDICTION SURVEILLANCE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0F172A"/>
                </a:solidFill>
                <a:latin typeface="Arial"/>
              </a:rPr>
              <a:t>• US CMS Open Payments (Sunshine Act):</a:t>
            </a:r>
            <a:r>
              <a:rPr sz="900">
                <a:solidFill>
                  <a:srgbClr val="1E293B"/>
                </a:solidFill>
                <a:latin typeface="Arial"/>
              </a:rPr>
              <a:t> 91.2% NPI completeness across US HCP meetings. 24 events flagged for missing NPI numbers prior to final attestation filing.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0F172A"/>
                </a:solidFill>
                <a:latin typeface="Arial"/>
              </a:rPr>
              <a:t>• EFPIA Transparency Code (Europe):</a:t>
            </a:r>
            <a:r>
              <a:rPr sz="900">
                <a:solidFill>
                  <a:srgbClr val="1E293B"/>
                </a:solidFill>
                <a:latin typeface="Arial"/>
              </a:rPr>
              <a:t> 34 cross-border HCP sponsorships lacked bilateral affiliate notifications, creating statutory disclosure deficiencies in UK, France, and Germany.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0F172A"/>
                </a:solidFill>
                <a:latin typeface="Arial"/>
              </a:rPr>
              <a:t>• Fair Market Value (FMV) Tier Governance:</a:t>
            </a:r>
            <a:r>
              <a:rPr sz="900">
                <a:solidFill>
                  <a:srgbClr val="1E293B"/>
                </a:solidFill>
                <a:latin typeface="Arial"/>
              </a:rPr>
              <a:t> 28 speaker agreements executed with fee amounts outside standard tier guidelines without documented Medical Compliance exception sign-off.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0F172A"/>
                </a:solidFill>
                <a:latin typeface="Arial"/>
              </a:rPr>
              <a:t>• Business Unit Performance Ranking:</a:t>
            </a:r>
            <a:r>
              <a:rPr sz="900">
                <a:solidFill>
                  <a:srgbClr val="1E293B"/>
                </a:solidFill>
                <a:latin typeface="Arial"/>
              </a:rPr>
              <a:t> Oncology achieved highest compliance (81.4% accuracy), while Vaccines/Infectious logged greatest roster lag (74.8% accuracy).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D9488"/>
                </a:solidFill>
                <a:latin typeface="Arial"/>
              </a:defRPr>
            </a:pPr>
            <a:r>
              <a:t>GLOBAL MEETINGS DATA QUALITY &amp; GOVERNANCE COMMITTEE</a:t>
            </a:r>
          </a:p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Root Cause Pareto Analysis: Top 8 Data Quality Deficiencies</a:t>
            </a:r>
          </a:p>
        </p:txBody>
      </p:sp>
      <p:pic>
        <p:nvPicPr>
          <p:cNvPr id="3" name="Picture 2" descr="dlp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217920" cy="48463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132320" y="1371600"/>
            <a:ext cx="429768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CRITICAL PARETO INSIGHTS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0F172A"/>
                </a:solidFill>
                <a:latin typeface="Arial"/>
              </a:rPr>
              <a:t>• 80/20 Concentration:</a:t>
            </a:r>
            <a:r>
              <a:rPr sz="900">
                <a:solidFill>
                  <a:srgbClr val="1E293B"/>
                </a:solidFill>
                <a:latin typeface="Arial"/>
              </a:rPr>
              <a:t> 3 failure modes (Roster Lag, Missing NPIs, and Aged Card Reconciliation) account for 78% of all portfolio data quality errors.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0F172A"/>
                </a:solidFill>
                <a:latin typeface="Arial"/>
              </a:rPr>
              <a:t>• Regulatory Multiplier:</a:t>
            </a:r>
            <a:r>
              <a:rPr sz="900">
                <a:solidFill>
                  <a:srgbClr val="1E293B"/>
                </a:solidFill>
                <a:latin typeface="Arial"/>
              </a:rPr>
              <a:t> Although Fleet CO2 omissions represent 2.8% of errors, Roster Lags represent 12.3% of records and directly threaten federal certification.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0F172A"/>
                </a:solidFill>
                <a:latin typeface="Arial"/>
              </a:rPr>
              <a:t>• Interdependent Failures:</a:t>
            </a:r>
            <a:r>
              <a:rPr sz="900">
                <a:solidFill>
                  <a:srgbClr val="1E293B"/>
                </a:solidFill>
                <a:latin typeface="Arial"/>
              </a:rPr>
              <a:t> When a meeting lacks a Cvent ID (DLP-1), it systematically triggers downstream failures in Concur expense binding and Sunshine reporting.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0F172A"/>
                </a:solidFill>
                <a:latin typeface="Arial"/>
              </a:rPr>
              <a:t>• Pre-Event Prevention:</a:t>
            </a:r>
            <a:r>
              <a:rPr sz="900">
                <a:solidFill>
                  <a:srgbClr val="1E293B"/>
                </a:solidFill>
                <a:latin typeface="Arial"/>
              </a:rPr>
              <a:t> 65% of all flagged errors can be systematically prevented at the Cvent intake stage through form validation gating.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D9488"/>
                </a:solidFill>
                <a:latin typeface="Arial"/>
              </a:defRPr>
            </a:pPr>
            <a:r>
              <a:t>GLOBAL MEETINGS DATA QUALITY &amp; GOVERNANCE COMMITTEE</a:t>
            </a:r>
          </a:p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90-Day Remediation Roadmap &amp; Stakeholder Action Plan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950" b="1">
                <a:solidFill>
                  <a:srgbClr val="0D9488"/>
                </a:solidFill>
                <a:latin typeface="Arial"/>
              </a:defRPr>
            </a:pPr>
            <a:r>
              <a:t>PHASE 1: DAYS 1 - 30</a:t>
            </a:r>
          </a:p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  <a:latin typeface="Arial"/>
              </a:defRPr>
            </a:pPr>
            <a:r>
              <a:t>IMMEDIATE SYSTEM GATING</a:t>
            </a:r>
          </a:p>
          <a:p>
            <a:pPr>
              <a:spcBef>
                <a:spcPts val="1200"/>
              </a:spcBef>
            </a:pPr>
            <a:r>
              <a:rPr sz="1000" b="1">
                <a:solidFill>
                  <a:srgbClr val="0D9488"/>
                </a:solidFill>
                <a:latin typeface="Arial"/>
              </a:rPr>
              <a:t>- </a:t>
            </a:r>
            <a:r>
              <a:rPr sz="950">
                <a:solidFill>
                  <a:srgbClr val="1E293B"/>
                </a:solidFill>
                <a:latin typeface="Arial"/>
              </a:rPr>
              <a:t>Implement 'No Cvent ID, No Payment' hard stop in SAP Concur &amp; Virtual Card portal.</a:t>
            </a:r>
          </a:p>
          <a:p>
            <a:pPr>
              <a:spcBef>
                <a:spcPts val="1200"/>
              </a:spcBef>
            </a:pPr>
            <a:r>
              <a:rPr sz="1000" b="1">
                <a:solidFill>
                  <a:srgbClr val="0D9488"/>
                </a:solidFill>
                <a:latin typeface="Arial"/>
              </a:rPr>
              <a:t>- </a:t>
            </a:r>
            <a:r>
              <a:rPr sz="950">
                <a:solidFill>
                  <a:srgbClr val="1E293B"/>
                </a:solidFill>
                <a:latin typeface="Arial"/>
              </a:rPr>
              <a:t>Deploy real-time CMS NPPES API check in Cvent registration to validate 10-digit NPIs at input.</a:t>
            </a:r>
          </a:p>
          <a:p>
            <a:pPr>
              <a:spcBef>
                <a:spcPts val="1200"/>
              </a:spcBef>
            </a:pPr>
            <a:r>
              <a:rPr sz="1000" b="1">
                <a:solidFill>
                  <a:srgbClr val="0D9488"/>
                </a:solidFill>
                <a:latin typeface="Arial"/>
              </a:rPr>
              <a:t>- </a:t>
            </a:r>
            <a:r>
              <a:rPr sz="950">
                <a:solidFill>
                  <a:srgbClr val="1E293B"/>
                </a:solidFill>
                <a:latin typeface="Arial"/>
              </a:rPr>
              <a:t>Freeze corporate card privileges for organizers with rosters delinquent &gt;30 days.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3832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950" b="1">
                <a:solidFill>
                  <a:srgbClr val="06B6D4"/>
                </a:solidFill>
                <a:latin typeface="Arial"/>
              </a:defRPr>
            </a:pPr>
            <a:r>
              <a:t>PHASE 2: DAYS 31 - 60</a:t>
            </a:r>
          </a:p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  <a:latin typeface="Arial"/>
              </a:defRPr>
            </a:pPr>
            <a:r>
              <a:t>AUTOMATION &amp; ESCALATION</a:t>
            </a:r>
          </a:p>
          <a:p>
            <a:pPr>
              <a:spcBef>
                <a:spcPts val="1200"/>
              </a:spcBef>
            </a:pPr>
            <a:r>
              <a:rPr sz="1000" b="1">
                <a:solidFill>
                  <a:srgbClr val="06B6D4"/>
                </a:solidFill>
                <a:latin typeface="Arial"/>
              </a:rPr>
              <a:t>- </a:t>
            </a:r>
            <a:r>
              <a:rPr sz="950">
                <a:solidFill>
                  <a:srgbClr val="1E293B"/>
                </a:solidFill>
                <a:latin typeface="Arial"/>
              </a:rPr>
              <a:t>Launch automated Day +7 and Day +14 email nudges to meeting organizers and BU VPs.</a:t>
            </a:r>
          </a:p>
          <a:p>
            <a:pPr>
              <a:spcBef>
                <a:spcPts val="1200"/>
              </a:spcBef>
            </a:pPr>
            <a:r>
              <a:rPr sz="1000" b="1">
                <a:solidFill>
                  <a:srgbClr val="06B6D4"/>
                </a:solidFill>
                <a:latin typeface="Arial"/>
              </a:rPr>
              <a:t>- </a:t>
            </a:r>
            <a:r>
              <a:rPr sz="950">
                <a:solidFill>
                  <a:srgbClr val="1E293B"/>
                </a:solidFill>
                <a:latin typeface="Arial"/>
              </a:rPr>
              <a:t>Mandate Level 3 Merchant Interchange standard on all Master Hotel vendor agreements.</a:t>
            </a:r>
          </a:p>
          <a:p>
            <a:pPr>
              <a:spcBef>
                <a:spcPts val="1200"/>
              </a:spcBef>
            </a:pPr>
            <a:r>
              <a:rPr sz="1000" b="1">
                <a:solidFill>
                  <a:srgbClr val="06B6D4"/>
                </a:solidFill>
                <a:latin typeface="Arial"/>
              </a:rPr>
              <a:t>- </a:t>
            </a:r>
            <a:r>
              <a:rPr sz="950">
                <a:solidFill>
                  <a:srgbClr val="1E293B"/>
                </a:solidFill>
                <a:latin typeface="Arial"/>
              </a:rPr>
              <a:t>Deploy automated Concur-to-Cvent nightly synchronization to eliminate manual expense linking.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950" b="1">
                <a:solidFill>
                  <a:srgbClr val="0F172A"/>
                </a:solidFill>
                <a:latin typeface="Arial"/>
              </a:defRPr>
            </a:pPr>
            <a:r>
              <a:t>PHASE 3: DAYS 61 - 90</a:t>
            </a:r>
          </a:p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  <a:latin typeface="Arial"/>
              </a:defRPr>
            </a:pPr>
            <a:r>
              <a:t>ANALYTICS &amp; GOVERNANCE</a:t>
            </a:r>
          </a:p>
          <a:p>
            <a:pPr>
              <a:spcBef>
                <a:spcPts val="1200"/>
              </a:spcBef>
            </a:pPr>
            <a:r>
              <a:rPr sz="1000" b="1">
                <a:solidFill>
                  <a:srgbClr val="0F172A"/>
                </a:solidFill>
                <a:latin typeface="Arial"/>
              </a:rPr>
              <a:t>- </a:t>
            </a:r>
            <a:r>
              <a:rPr sz="950">
                <a:solidFill>
                  <a:srgbClr val="1E293B"/>
                </a:solidFill>
                <a:latin typeface="Arial"/>
              </a:rPr>
              <a:t>Connect live Snowflake Transparency Data Lake with automated anomaly alert webhooks.</a:t>
            </a:r>
          </a:p>
          <a:p>
            <a:pPr>
              <a:spcBef>
                <a:spcPts val="1200"/>
              </a:spcBef>
            </a:pPr>
            <a:r>
              <a:rPr sz="1000" b="1">
                <a:solidFill>
                  <a:srgbClr val="0F172A"/>
                </a:solidFill>
                <a:latin typeface="Arial"/>
              </a:rPr>
              <a:t>- </a:t>
            </a:r>
            <a:r>
              <a:rPr sz="950">
                <a:solidFill>
                  <a:srgbClr val="1E293B"/>
                </a:solidFill>
                <a:latin typeface="Arial"/>
              </a:rPr>
              <a:t>Implement ground fleet API hook with Amex GBT for automated Scope 3 CO2 telemetry.</a:t>
            </a:r>
          </a:p>
          <a:p>
            <a:pPr>
              <a:spcBef>
                <a:spcPts val="1200"/>
              </a:spcBef>
            </a:pPr>
            <a:r>
              <a:rPr sz="1000" b="1">
                <a:solidFill>
                  <a:srgbClr val="0F172A"/>
                </a:solidFill>
                <a:latin typeface="Arial"/>
              </a:rPr>
              <a:t>- </a:t>
            </a:r>
            <a:r>
              <a:rPr sz="950">
                <a:solidFill>
                  <a:srgbClr val="1E293B"/>
                </a:solidFill>
                <a:latin typeface="Arial"/>
              </a:rPr>
              <a:t>Achieve enterprise portfolio accuracy milestone of &gt;= 95.0% across all 4 Business Units.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